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ProofBridge: Cryptographic Skill Verification Network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Stop Trusting What Students Claim. Mathematically Verify What They Can Build.</a:t>
            </a:r>
          </a:p>
          <a:p>
            <a:r>
              <a:t>IIC 3.0 MUJ Hackathon · Theme: EdTech · PS-08 Academia-Industry Collaboration</a:t>
            </a:r>
          </a:p>
          <a:p>
            <a:r>
              <a:t>Team Name: Outliers</a:t>
            </a:r>
          </a:p>
          <a:p>
            <a:r>
              <a:t>Team Members: Akshar Miyani, Lubhanshi Mathur, Lakshita Sharma, Mohammad Faizan</a:t>
            </a:r>
          </a:p>
        </p:txBody>
      </p:sp>
      <p:pic>
        <p:nvPicPr>
          <p:cNvPr id="4" name="Picture 3" descr="muj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74320"/>
            <a:ext cx="1645920" cy="504706"/>
          </a:xfrm>
          <a:prstGeom prst="rect">
            <a:avLst/>
          </a:prstGeom>
        </p:spPr>
      </p:pic>
      <p:pic>
        <p:nvPicPr>
          <p:cNvPr id="5" name="Picture 4" descr="iic3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74320"/>
            <a:ext cx="1280160" cy="66258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Core Problem: Resumes Are Broken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Resume Inflation Crisis: Over 78% of engineering resumes contain exaggerated or unverified claims.</a:t>
            </a:r>
          </a:p>
          <a:p>
            <a:pPr/>
            <a:r>
              <a:t>Generative AI CV Flooding: Recruiters spend over 42 hours per technical role filtering AI-generated resume spam.</a:t>
            </a:r>
          </a:p>
          <a:p>
            <a:pPr/>
            <a:r>
              <a:t>Degree Detachment: Broad semester letter grades fail to signal modular production competence (SQL, Docker, APIs).</a:t>
            </a:r>
          </a:p>
          <a:p>
            <a:pPr/>
            <a:r>
              <a:t>Pedigree Bias: Talented students from regional/tier-2 colleges are filtered out by generic keyword ATS tools.</a:t>
            </a:r>
          </a:p>
        </p:txBody>
      </p:sp>
      <p:pic>
        <p:nvPicPr>
          <p:cNvPr id="4" name="Picture 3" descr="muj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74320"/>
            <a:ext cx="1645920" cy="504706"/>
          </a:xfrm>
          <a:prstGeom prst="rect">
            <a:avLst/>
          </a:prstGeom>
        </p:spPr>
      </p:pic>
      <p:pic>
        <p:nvPicPr>
          <p:cNvPr id="5" name="Picture 4" descr="iic3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74320"/>
            <a:ext cx="1280160" cy="66258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Market Gap &amp;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Missing Link: Existing portals (LinkedIn, Internshala) treat skills as self-typed text strings with zero proof.</a:t>
            </a:r>
          </a:p>
          <a:p>
            <a:pPr/>
            <a:r>
              <a:t>The Cryptographic Chain: University Anchor -&gt; GitHub Git Evidence -&gt; Faculty Rubrics -&gt; Role Genomes -&gt; W3C Credentials.</a:t>
            </a:r>
          </a:p>
          <a:p>
            <a:pPr/>
            <a:r>
              <a:t>Students: Verifiable Skill Twin &amp; shortest-path employability roadmap.</a:t>
            </a:r>
          </a:p>
          <a:p>
            <a:pPr/>
            <a:r>
              <a:t>Faculty Evaluators: Structured rubric queues with &lt; 24h SLA and NAAC/NBA accreditation data.</a:t>
            </a:r>
          </a:p>
          <a:p>
            <a:pPr/>
            <a:r>
              <a:t>Industry Employers: Blind vector talent search and 80% reduction in technical screening time.</a:t>
            </a:r>
          </a:p>
          <a:p>
            <a:pPr/>
            <a:r>
              <a:t>University Leadership: Real-time curriculum demand gap radar across student cohorts.</a:t>
            </a:r>
          </a:p>
        </p:txBody>
      </p:sp>
      <p:pic>
        <p:nvPicPr>
          <p:cNvPr id="4" name="Picture 3" descr="muj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74320"/>
            <a:ext cx="1645920" cy="504706"/>
          </a:xfrm>
          <a:prstGeom prst="rect">
            <a:avLst/>
          </a:prstGeom>
        </p:spPr>
      </p:pic>
      <p:pic>
        <p:nvPicPr>
          <p:cNvPr id="5" name="Picture 4" descr="iic3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74320"/>
            <a:ext cx="1280160" cy="66258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Proposed Solution: ProofBridge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What is ProofBridge? An evidence-based talent intelligence network connecting academia and industry via cryptographic code proofs.</a:t>
            </a:r>
          </a:p>
          <a:p>
            <a:pPr/>
            <a:r>
              <a:t>Pillar 1 - Skill Twin: Dynamic digital twin of student competence linked to frozen Git commit digests.</a:t>
            </a:r>
          </a:p>
          <a:p>
            <a:pPr/>
            <a:r>
              <a:t>Pillar 2 - Role Genome: Requisitions converted into multi-factor capability vectors with weighted rubric levels.</a:t>
            </a:r>
          </a:p>
          <a:p>
            <a:pPr/>
            <a:r>
              <a:t>Pillar 3 - Bridge Me Engine: Shortest-path pathfinder calculating highest-ROI challenges to close eligibility gaps.</a:t>
            </a:r>
          </a:p>
          <a:p>
            <a:pPr/>
            <a:r>
              <a:t>Pillar 4 - Faculty Trust Anchor: Accredited human faculty scoring with 0% AI hallucination, outputting W3C JSON-LD credentials.</a:t>
            </a:r>
          </a:p>
        </p:txBody>
      </p:sp>
      <p:pic>
        <p:nvPicPr>
          <p:cNvPr id="4" name="Picture 3" descr="muj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74320"/>
            <a:ext cx="1645920" cy="504706"/>
          </a:xfrm>
          <a:prstGeom prst="rect">
            <a:avLst/>
          </a:prstGeom>
        </p:spPr>
      </p:pic>
      <p:pic>
        <p:nvPicPr>
          <p:cNvPr id="5" name="Picture 4" descr="iic3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74320"/>
            <a:ext cx="1280160" cy="66258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GitHub Ground Truth &amp; Evidence Verification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Real Code as Ground Truth: Direct analysis of GitHub repositories, AST structures, and test suites (e.g. 2,840 lines analyzed).</a:t>
            </a:r>
          </a:p>
          <a:p>
            <a:pPr/>
            <a:r>
              <a:t>Mandatory Student Contribution Defense: Candidates must explain independent problem-solving vs tooling assistance.</a:t>
            </a:r>
          </a:p>
          <a:p>
            <a:pPr/>
            <a:r>
              <a:t>AI &amp; Tooling Transparency Disclosure: Tagging independent authoring, AI syntax verification, or autocomplete copilot.</a:t>
            </a:r>
          </a:p>
          <a:p>
            <a:pPr/>
            <a:r>
              <a:t>Frozen Revision Locks: Atomic PostgreSQL submission locks with server-calculated SHA-256 digests.</a:t>
            </a:r>
          </a:p>
        </p:txBody>
      </p:sp>
      <p:pic>
        <p:nvPicPr>
          <p:cNvPr id="4" name="Picture 3" descr="muj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74320"/>
            <a:ext cx="1645920" cy="504706"/>
          </a:xfrm>
          <a:prstGeom prst="rect">
            <a:avLst/>
          </a:prstGeom>
        </p:spPr>
      </p:pic>
      <p:pic>
        <p:nvPicPr>
          <p:cNvPr id="5" name="Picture 4" descr="iic3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74320"/>
            <a:ext cx="1280160" cy="66258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 &amp; Deterministic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Frontend: Next.js 14 (App Router), React 18, TypeScript, Tailwind CSS, Framer Motion, Next-Themes.</a:t>
            </a:r>
          </a:p>
          <a:p>
            <a:pPr/>
            <a:r>
              <a:t>Backend &amp; Storage: PostgreSQL with connection pooling, immutable revision logs, atomic state synchronization.</a:t>
            </a:r>
          </a:p>
          <a:p>
            <a:pPr/>
            <a:r>
              <a:t>W3C Verifiable Credentials: JSON-LD standard proofs, SHA-256 code digests, Did:pb decentralized identifiers.</a:t>
            </a:r>
          </a:p>
          <a:p>
            <a:pPr/>
            <a:r>
              <a:t>coverage-v1 Algorithm: Deterministic mathematical scoring formula [Score = Sum(Weight * min(1, Level / Target))].</a:t>
            </a:r>
          </a:p>
        </p:txBody>
      </p:sp>
      <p:pic>
        <p:nvPicPr>
          <p:cNvPr id="4" name="Picture 3" descr="muj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74320"/>
            <a:ext cx="1645920" cy="504706"/>
          </a:xfrm>
          <a:prstGeom prst="rect">
            <a:avLst/>
          </a:prstGeom>
        </p:spPr>
      </p:pic>
      <p:pic>
        <p:nvPicPr>
          <p:cNvPr id="5" name="Picture 4" descr="iic3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74320"/>
            <a:ext cx="1280160" cy="66258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Curriculum Intelligence &amp; Blind Talent Radar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University Curriculum Gap Radar: Real-time cohort demand analytics (e.g. 620 students: 142 ready, 213 near-ready, 49% Docker gap).</a:t>
            </a:r>
          </a:p>
          <a:p>
            <a:pPr/>
            <a:r>
              <a:t>Proactive Curriculum Adaptation: Enables deans to run targeted bootcamps before placement season begins.</a:t>
            </a:r>
          </a:p>
          <a:p>
            <a:pPr/>
            <a:r>
              <a:t>Blind Vector Hiring: Candidates shortlisted purely by mathematical genome match with zero pedigree or demographic bias.</a:t>
            </a:r>
          </a:p>
          <a:p>
            <a:pPr/>
            <a:r>
              <a:t>1-Click Verification: Third-party employers verify code digests offline without contacting university administration.</a:t>
            </a:r>
          </a:p>
        </p:txBody>
      </p:sp>
      <p:pic>
        <p:nvPicPr>
          <p:cNvPr id="4" name="Picture 3" descr="muj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74320"/>
            <a:ext cx="1645920" cy="504706"/>
          </a:xfrm>
          <a:prstGeom prst="rect">
            <a:avLst/>
          </a:prstGeom>
        </p:spPr>
      </p:pic>
      <p:pic>
        <p:nvPicPr>
          <p:cNvPr id="5" name="Picture 4" descr="iic3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74320"/>
            <a:ext cx="1280160" cy="66258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Feasibility, Accreditation &amp; Measurable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Zero Recurring Cost: Open W3C standards and self-hosted PostgreSQL eliminate expensive third-party AI/API bills.</a:t>
            </a:r>
          </a:p>
          <a:p>
            <a:pPr/>
            <a:r>
              <a:t>Accreditation Compliance: Automated data export for NAAC Criteria 2 &amp; 5, NBA OBE Criterion 2.6, and NEP 2020 frameworks.</a:t>
            </a:r>
          </a:p>
          <a:p>
            <a:pPr/>
            <a:r>
              <a:t>80% Reduction in Technical Screening: Employers interview pre-verified candidates with zero resume reading.</a:t>
            </a:r>
          </a:p>
          <a:p>
            <a:pPr/>
            <a:r>
              <a:t>3.2x Higher Interview Conversion: Students with evidence-backed Skill Twins demonstrate proven technical capability.</a:t>
            </a:r>
          </a:p>
        </p:txBody>
      </p:sp>
      <p:pic>
        <p:nvPicPr>
          <p:cNvPr id="4" name="Picture 3" descr="muj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74320"/>
            <a:ext cx="1645920" cy="504706"/>
          </a:xfrm>
          <a:prstGeom prst="rect">
            <a:avLst/>
          </a:prstGeom>
        </p:spPr>
      </p:pic>
      <p:pic>
        <p:nvPicPr>
          <p:cNvPr id="5" name="Picture 4" descr="iic3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74320"/>
            <a:ext cx="1280160" cy="66258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Team Outliers &amp; Future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Akshar Miyani: Lead Architect, Full-Stack &amp; Cryptography</a:t>
            </a:r>
          </a:p>
          <a:p>
            <a:pPr/>
            <a:r>
              <a:t>Lubhanshi Mathur: System Engineering &amp; UX/UI Design</a:t>
            </a:r>
          </a:p>
          <a:p>
            <a:pPr/>
            <a:r>
              <a:t>Lakshita Sharma: Academic Rubrics &amp; Accreditation Frameworks</a:t>
            </a:r>
          </a:p>
          <a:p>
            <a:pPr/>
            <a:r>
              <a:t>Mohammad Faizan: Backend Pipelines &amp; Infrastructure</a:t>
            </a:r>
          </a:p>
          <a:p>
            <a:pPr/>
          </a:p>
          <a:p>
            <a:pPr/>
            <a:r>
              <a:t>Vision: Empowering every student to be evaluated by what they can build, not by what they can fabricate.</a:t>
            </a:r>
          </a:p>
        </p:txBody>
      </p:sp>
      <p:pic>
        <p:nvPicPr>
          <p:cNvPr id="4" name="Picture 3" descr="muj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74320"/>
            <a:ext cx="1645920" cy="504706"/>
          </a:xfrm>
          <a:prstGeom prst="rect">
            <a:avLst/>
          </a:prstGeom>
        </p:spPr>
      </p:pic>
      <p:pic>
        <p:nvPicPr>
          <p:cNvPr id="5" name="Picture 4" descr="iic3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74320"/>
            <a:ext cx="1280160" cy="66258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
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embeddedFontLst>
    <p:embeddedFont>
      <p:font typeface="Playfair Display" pitchFamily="2" charset="77"/>
      <p:regular r:id="rId10"/>
      <p:bold r:id="rId11"/>
      <p:italic r:id="rId12"/>
      <p:boldItalic r:id="rId13"/>
    </p:embeddedFont>
    <p:embeddedFont>
      <p:font typeface="Poppins" pitchFamily="2" charset="77"/>
      <p:regular r:id="rId14"/>
      <p:bold r:id="rId15"/>
      <p:italic r:id="rId16"/>
      <p:boldItalic r:id="rId17"/>
    </p:embeddedFont>
    <p:embeddedFont>
      <p:font typeface="Poppins Light" panose="00000400000000000000" pitchFamily="2" charset="77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67"/>
  </p:normalViewPr>
  <p:slideViewPr>
    <p:cSldViewPr snapToGrid="0">
      <p:cViewPr varScale="1">
        <p:scale>
          <a:sx n="110" d="100"/>
          <a:sy n="110" d="100"/>
        </p:scale>
        <p:origin x="56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0" Type="http://schemas.openxmlformats.org/officeDocument/2006/relationships/font" Target="fonts/font11.fntdata"/><Relationship Id="rId21" Type="http://schemas.openxmlformats.org/officeDocument/2006/relationships/font" Target="fonts/font12.fnt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8" name="Google Shape;14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1" name="Google Shape;16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913D027A-A40D-1CF1-166C-C51061C8C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BB750601-5DFA-F438-46DF-BCD655C92D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" name="Google Shape;96;p2:notes">
            <a:extLst>
              <a:ext uri="{FF2B5EF4-FFF2-40B4-BE49-F238E27FC236}">
                <a16:creationId xmlns:a16="http://schemas.microsoft.com/office/drawing/2014/main" id="{81A6A0A5-485D-443E-F93A-FA0B0FA5DC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78044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00175" y="414337"/>
            <a:ext cx="9391650" cy="60293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185511" y="1533525"/>
            <a:ext cx="7820977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A1612"/>
                </a:solidFill>
                <a:latin typeface="Segoe UI"/>
              </a:rPr>
              <a:t>INTERNATIONAL INNOVATION CHALLENGE 3.0</a:t>
            </a:r>
            <a:endParaRPr dirty="0"/>
          </a:p>
          <a:p>
            <a:r>
              <a:rPr sz="1400" b="1" i="0">
                <a:solidFill>
                  <a:srgbClr val="B8762A"/>
                </a:solidFill>
                <a:latin typeface="Segoe UI"/>
              </a:rPr>
              <a:t>MANIPAL UNIVERSITY JAIPUR · HACKATHON FINALS 2026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4471987" y="40052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B8762A"/>
                </a:solidFill>
                <a:latin typeface="Segoe UI"/>
              </a:rPr>
              <a:t>Theme: </a:t>
            </a:r>
            <a:r>
              <a:rPr sz="1300" b="0" i="0">
                <a:solidFill>
                  <a:srgbClr val="2C2922"/>
                </a:solidFill>
                <a:latin typeface="Segoe UI"/>
              </a:rPr>
              <a:t>EdTech — Education Technology (PS-08)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471987" y="455771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B8762A"/>
                </a:solidFill>
                <a:latin typeface="Segoe UI"/>
              </a:rPr>
              <a:t>Idea Title: </a:t>
            </a:r>
            <a:r>
              <a:rPr sz="1300" b="1" i="0">
                <a:solidFill>
                  <a:srgbClr val="1A1612"/>
                </a:solidFill>
                <a:latin typeface="Segoe UI"/>
              </a:rPr>
              <a:t>ProofBridge — Cryptographic Skill Verification Network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4471987" y="51101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B8762A"/>
                </a:solidFill>
                <a:latin typeface="Segoe UI"/>
              </a:rPr>
              <a:t>Team Name: </a:t>
            </a:r>
            <a:r>
              <a:rPr sz="1300" b="1" i="0">
                <a:solidFill>
                  <a:srgbClr val="1A1612"/>
                </a:solidFill>
                <a:latin typeface="Segoe UI"/>
              </a:rPr>
              <a:t>Team Outliers</a:t>
            </a:r>
            <a:endParaRPr dirty="0"/>
          </a:p>
          <a:p>
            <a:r>
              <a:rPr sz="1100" b="0" i="0">
                <a:solidFill>
                  <a:srgbClr val="6B5D4A"/>
                </a:solidFill>
                <a:latin typeface="Segoe UI"/>
              </a:rPr>
              <a:t>Akshar Miyani · Lubhanshi Mathur · Lakshita Sharma · Mohammad Faizan</a:t>
            </a:r>
          </a:p>
        </p:txBody>
      </p:sp>
      <p:pic>
        <p:nvPicPr>
          <p:cNvPr id="90" name="Google Shape;90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43362" y="403383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43362" y="4586287"/>
            <a:ext cx="1714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043362" y="513873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E7922C-D65A-4A22-8F20-6A8FB0158D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2323" y="588918"/>
            <a:ext cx="2844187" cy="8731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3A44B1-CD48-B725-0E2D-7F4DFB4556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91713" y="588918"/>
            <a:ext cx="1877963" cy="972367"/>
          </a:xfrm>
          <a:prstGeom prst="rect">
            <a:avLst/>
          </a:prstGeom>
        </p:spPr>
      </p:pic>
      <p:sp>
        <p:nvSpPr>
          <p:cNvPr id="7" name="Google Shape;111;p14">
            <a:extLst>
              <a:ext uri="{FF2B5EF4-FFF2-40B4-BE49-F238E27FC236}">
                <a16:creationId xmlns:a16="http://schemas.microsoft.com/office/drawing/2014/main" id="{B0B7FDCA-5857-D492-02A9-B3CA0036752A}"/>
              </a:ext>
            </a:extLst>
          </p:cNvPr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200" b="1" i="0">
                  <a:solidFill>
                    <a:srgbClr val="B8762A"/>
                  </a:solidFill>
                  <a:latin typeface="Segoe UI"/>
                </a:rPr>
                <a:t>The Core Problem: Resumes Are Broken</a:t>
              </a:r>
              <a:endParaRPr dirty="0"/>
            </a:p>
            <a:p>
              <a:r>
                <a:rPr sz="1000" b="0" i="0">
                  <a:solidFill>
                    <a:srgbClr val="2C2922"/>
                  </a:solidFill>
                  <a:latin typeface="Segoe UI"/>
                </a:rPr>
                <a:t>• 78% of engineering resumes contain exaggerated claims; AI CV spam floods recruiters.
• Semester letter grades fail to signal modular production competence (SQL, Docker, APIs).
• Keyword ATS filters overlook high-potential students from non-elite colleges.</a:t>
              </a:r>
            </a:p>
          </p:txBody>
        </p:sp>
        <p:pic>
          <p:nvPicPr>
            <p:cNvPr id="105" name="Google Shape;105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200" b="1" i="0">
                  <a:solidFill>
                    <a:srgbClr val="0F766E"/>
                  </a:solidFill>
                  <a:latin typeface="Segoe UI"/>
                </a:rPr>
                <a:t>The Proposed Solution: ProofBridge Architecture</a:t>
              </a:r>
              <a:endParaRPr dirty="0"/>
            </a:p>
            <a:p>
              <a:r>
                <a:rPr sz="1000" b="0" i="0">
                  <a:solidFill>
                    <a:srgbClr val="2C2922"/>
                  </a:solidFill>
                  <a:latin typeface="Segoe UI"/>
                </a:rPr>
                <a:t>• Replaces self-reported text claims with an immutable, evidence-backed Skill Twin.
• Analyzes raw GitHub code repositories, commit histories, and sandbox submissions.
• Human faculty score standardized 4-tier rubrics (0% AI hallucination) with W3C JSON-LD proofs.</a:t>
              </a:r>
            </a:p>
          </p:txBody>
        </p:sp>
        <p:pic>
          <p:nvPicPr>
            <p:cNvPr id="106" name="Google Shape;106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200" b="1" i="0">
                  <a:solidFill>
                    <a:srgbClr val="16A34A"/>
                  </a:solidFill>
                  <a:latin typeface="Segoe UI"/>
                </a:rPr>
                <a:t>How It Directly Solves PS-08</a:t>
              </a:r>
              <a:endParaRPr dirty="0"/>
            </a:p>
            <a:p>
              <a:r>
                <a:rPr sz="1000" b="0" i="0">
                  <a:solidFill>
                    <a:srgbClr val="2C2922"/>
                  </a:solidFill>
                  <a:latin typeface="Segoe UI"/>
                </a:rPr>
                <a:t>• Skill Mapping: Translates student code into granular capability vectors.
• Internships &amp; Placements: Employers search verified vectors directly without CV screening.
• Shortest-Path 'Bridge Me': Recommends highest-ROI challenges to close hiring deficits.</a:t>
              </a:r>
            </a:p>
          </p:txBody>
        </p:sp>
        <p:pic>
          <p:nvPicPr>
            <p:cNvPr id="107" name="Google Shape;107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200" b="1" i="0">
                  <a:solidFill>
                    <a:srgbClr val="B8762A"/>
                  </a:solidFill>
                  <a:latin typeface="Segoe UI"/>
                </a:rPr>
                <a:t>Core Innovations &amp; USPs</a:t>
              </a:r>
              <a:endParaRPr dirty="0"/>
            </a:p>
            <a:p>
              <a:r>
                <a:rPr sz="1000" b="0" i="0">
                  <a:solidFill>
                    <a:srgbClr val="2C2922"/>
                  </a:solidFill>
                  <a:latin typeface="Segoe UI"/>
                </a:rPr>
                <a:t>• Frozen Git Revisions (SHA-256) &amp; Mandatory Student Contribution Statements.
• Role Genomes: Requisitions reverse-engineered into weighted proficiency vectors (L1-L4).
• Blind Talent Radar: 100% merit-based shortlisting eliminating pedigree bias.</a:t>
              </a:r>
            </a:p>
          </p:txBody>
        </p:sp>
        <p:pic>
          <p:nvPicPr>
            <p:cNvPr id="108" name="Google Shape;108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A1612"/>
                </a:solidFill>
                <a:latin typeface="Segoe UI"/>
              </a:rPr>
              <a:t>PROOFBRIDGE: EVIDENCE-BASED TALENT INTELLIGENCE</a:t>
            </a:r>
            <a:endParaRPr dirty="0"/>
          </a:p>
          <a:p>
            <a:r>
              <a:rPr sz="1100" b="0" i="1">
                <a:solidFill>
                  <a:srgbClr val="B8762A"/>
                </a:solidFill>
                <a:latin typeface="Segoe UI"/>
              </a:rPr>
              <a:t>Moving from 'What students claim they know' to 'What students can mathematically prove they build'</a:t>
            </a:r>
          </a:p>
        </p:txBody>
      </p:sp>
      <p:sp>
        <p:nvSpPr>
          <p:cNvPr id="110" name="Google Shape;110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B18FF61-1857-DD5F-D4B4-32B1030BFE8C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1AED31AE-ABCF-23A6-5C8B-83D0AC31EAEC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1F32D93C-7343-8AF4-F453-702DCD511F75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86100"/>
            <a:ext cx="5238750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3086100"/>
            <a:ext cx="5238750" cy="1933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850582" y="3476625"/>
            <a:ext cx="468058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Technologies</a:t>
            </a:r>
            <a:endParaRPr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962025" y="4019550"/>
            <a:ext cx="4457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A1612"/>
                </a:solidFill>
                <a:latin typeface="Segoe UI"/>
              </a:rPr>
              <a:t>• Frontend &amp; UI: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Next.js 14 App Router, React 18, TypeScript, Tailwind CSS, Framer Motion
</a:t>
            </a:r>
            <a:endParaRPr dirty="0"/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Backend &amp; Database: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PostgreSQL with connection pool (pg), immutable revision logs, atomic state sync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Cryptography &amp; Standards: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W3C Verifiable Credentials (JSON-LD v1.0), SHA-256 Code Digests, Did:pb IDs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Matching Engine: </a:t>
            </a:r>
            <a:r>
              <a:rPr sz="1000" b="0" i="0">
                <a:solidFill>
                  <a:srgbClr val="B8762A"/>
                </a:solidFill>
                <a:latin typeface="Segoe UI"/>
              </a:rPr>
              <a:t>coverage-v1 deterministic formula: Score = Σ [Weight_i × min(1, Level / Target)]</a:t>
            </a:r>
          </a:p>
        </p:txBody>
      </p:sp>
      <p:sp>
        <p:nvSpPr>
          <p:cNvPr id="121" name="Google Shape;121;p15"/>
          <p:cNvSpPr txBox="1"/>
          <p:nvPr/>
        </p:nvSpPr>
        <p:spPr>
          <a:xfrm>
            <a:off x="6660832" y="3476625"/>
            <a:ext cx="468058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Methodology</a:t>
            </a:r>
            <a:endParaRPr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6772275" y="4019550"/>
            <a:ext cx="4457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A1612"/>
                </a:solidFill>
                <a:latin typeface="Segoe UI"/>
              </a:rPr>
              <a:t>1. Institutional Trust Anchor: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University Dean certifies student enrollment under NAAC/NBA framework.
</a:t>
            </a:r>
            <a:endParaRPr dirty="0"/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2. Real GitHub &amp; Sandbox Execution: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Student completes authentic SQL/code challenges against dirty data.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3. Immutable Code Freeze: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Atomic commit lock with SHA-256 hash + contribution defense &amp; AI disclosure.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4. Faculty Rubric Audit: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Accredited faculty scores 4-tier rubric (L1-L4) under &lt; 24h SLA guarantee.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5. Zero-Resume Matching: </a:t>
            </a:r>
            <a:r>
              <a:rPr sz="1000" b="0" i="0">
                <a:solidFill>
                  <a:srgbClr val="16A34A"/>
                </a:solidFill>
                <a:latin typeface="Segoe UI"/>
              </a:rPr>
              <a:t>Employers query capability vectors directly, unlocking immediate candidate offers.</a:t>
            </a:r>
          </a:p>
        </p:txBody>
      </p:sp>
      <p:sp>
        <p:nvSpPr>
          <p:cNvPr id="123" name="Google Shape;123;p15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TECHNICAL APPROACH</a:t>
            </a:r>
            <a:endParaRPr dirty="0"/>
          </a:p>
        </p:txBody>
      </p:sp>
      <p:sp>
        <p:nvSpPr>
          <p:cNvPr id="124" name="Google Shape;124;p15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4E2B5A-0D8D-0AB1-E15B-5102336B75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D9BBD4A-0CA1-32F3-26D6-3379A9124AC1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E85BF679-52A2-A2B8-04BF-1A2CCF31193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6A9C8AA2-5CCF-3436-C5FD-C0ADC42FFDE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31" name="Google Shape;13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32385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1720929" y="3810000"/>
            <a:ext cx="1130141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Feasibility</a:t>
            </a:r>
            <a:endParaRPr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866775" y="4257675"/>
            <a:ext cx="2838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A1612"/>
                </a:solidFill>
                <a:latin typeface="Segoe UI"/>
              </a:rPr>
              <a:t>• 100% Zero-Cost Architecture: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No recurring LLM API tokens or third-party verification fees.
</a:t>
            </a:r>
            <a:endParaRPr dirty="0"/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Marginal Cost per Student: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₹0.00 using self-hosted Next.js &amp; PostgreSQL.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Seamless ERP/LMS Integration: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Connects with Moodle, Canvas, and university portals via open REST endpoints.</a:t>
            </a:r>
          </a:p>
        </p:txBody>
      </p:sp>
      <p:pic>
        <p:nvPicPr>
          <p:cNvPr id="137" name="Google Shape;137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05500" y="32385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5490924" y="3810000"/>
            <a:ext cx="1210151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Challenges</a:t>
            </a:r>
            <a:endParaRPr dirty="0"/>
          </a:p>
        </p:txBody>
      </p:sp>
      <p:sp>
        <p:nvSpPr>
          <p:cNvPr id="139" name="Google Shape;139;p16"/>
          <p:cNvSpPr txBox="1"/>
          <p:nvPr/>
        </p:nvSpPr>
        <p:spPr>
          <a:xfrm>
            <a:off x="4776787" y="4257675"/>
            <a:ext cx="26384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A1612"/>
                </a:solidFill>
                <a:latin typeface="Segoe UI"/>
              </a:rPr>
              <a:t>• AI-Assisted Plagiarism: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Risk of candidates pasting ChatGPT code without comprehension.
</a:t>
            </a:r>
            <a:endParaRPr dirty="0"/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Faculty Bandwidth: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Professors may have limited grading time during exam weeks.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University Cold-Start: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Onboarding fresh institutions without established rubric catalogs.</a:t>
            </a:r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39312" y="323850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9360931" y="3810000"/>
            <a:ext cx="109013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Strategies</a:t>
            </a:r>
            <a:endParaRPr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8486775" y="4257675"/>
            <a:ext cx="2838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6A34A"/>
                </a:solidFill>
                <a:latin typeface="Segoe UI"/>
              </a:rPr>
              <a:t>• Mandatory Contribution Defense: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Candidates must explain logic &amp; disclose AI tooling usage.
</a:t>
            </a:r>
            <a:endParaRPr dirty="0"/>
          </a:p>
          <a:p>
            <a:r>
              <a:rPr sz="1000" b="1" i="0">
                <a:solidFill>
                  <a:srgbClr val="16A34A"/>
                </a:solidFill>
                <a:latin typeface="Segoe UI"/>
              </a:rPr>
              <a:t>• 1-Click Rubric Queue: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Standardized rubrics allow grading in &lt; 3 mins with SLA urgency tags.
</a:t>
            </a:r>
          </a:p>
          <a:p>
            <a:r>
              <a:rPr sz="1000" b="1" i="0">
                <a:solidFill>
                  <a:srgbClr val="16A34A"/>
                </a:solidFill>
                <a:latin typeface="Segoe UI"/>
              </a:rPr>
              <a:t>• Pre-Seeded Catalog: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Out-of-the-box challenge rubrics aligned with NAAC &amp; NBA criteria.</a:t>
            </a:r>
          </a:p>
        </p:txBody>
      </p:sp>
      <p:sp>
        <p:nvSpPr>
          <p:cNvPr id="143" name="Google Shape;143;p16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FEASIBILITY AND VIABILITY</a:t>
            </a:r>
            <a:endParaRPr dirty="0"/>
          </a:p>
        </p:txBody>
      </p:sp>
      <p:sp>
        <p:nvSpPr>
          <p:cNvPr id="144" name="Google Shape;144;p16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11687175" y="6467475"/>
            <a:ext cx="2190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539AD2-9821-3F8D-A3D6-35A48800DB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382BC47-C1E8-211A-F7F3-99B987C7EA8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C50263B4-4851-C499-7453-724CE8EF500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ED84BD7-0591-5A0E-6A51-006CBA369A9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" name="Google Shape;154;p17"/>
          <p:cNvSpPr txBox="1"/>
          <p:nvPr/>
        </p:nvSpPr>
        <p:spPr>
          <a:xfrm>
            <a:off x="1000125" y="1683172"/>
            <a:ext cx="46196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B8762A"/>
                </a:solidFill>
                <a:latin typeface="Segoe UI"/>
              </a:rPr>
              <a:t>Impact on Key Stakeholders</a:t>
            </a:r>
            <a:endParaRPr dirty="0"/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Students: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Verifiable Skill Passport shareable via simple HTTPS link; algorithmic roadmap to employability.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Employers: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Blind vector talent search saves 42+ hours per technical role; 80% screening time reduction.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Faculty: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Clean rubric grading under &lt; 24h SLA; direct evidence generation for academic appraisal.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University Leadership: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Real-time curriculum gap radar across cohorts (e.g. 620 students: 142 ready, 49% Docker deficit).</a:t>
            </a:r>
          </a:p>
        </p:txBody>
      </p:sp>
      <p:sp>
        <p:nvSpPr>
          <p:cNvPr id="155" name="Google Shape;155;p17"/>
          <p:cNvSpPr txBox="1"/>
          <p:nvPr/>
        </p:nvSpPr>
        <p:spPr>
          <a:xfrm>
            <a:off x="957415" y="2197585"/>
            <a:ext cx="8865235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F766E"/>
                </a:solidFill>
                <a:latin typeface="Segoe UI"/>
              </a:rPr>
              <a:t>Multi-Dimensional Benefits &amp; ROI</a:t>
            </a:r>
            <a:endParaRPr dirty="0"/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Social &amp; Merit Equity: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Eliminates tier-1 college pedigree bias; candidates judged 100% on demonstrable code execution.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Economic Efficiency: </a:t>
            </a:r>
            <a:r>
              <a:rPr sz="1000" b="0" i="0">
                <a:solidFill>
                  <a:srgbClr val="2C2922"/>
                </a:solidFill>
                <a:latin typeface="Segoe UI"/>
              </a:rPr>
              <a:t>Cuts technical hiring cycle from 3 weeks to 48 hours with 3.2x higher interview conversion.
</a:t>
            </a:r>
          </a:p>
          <a:p>
            <a:r>
              <a:rPr sz="1000" b="1" i="0">
                <a:solidFill>
                  <a:srgbClr val="1A1612"/>
                </a:solidFill>
                <a:latin typeface="Segoe UI"/>
              </a:rPr>
              <a:t>• National Accreditation (NAAC &amp; NBA): </a:t>
            </a:r>
            <a:r>
              <a:rPr sz="1000" b="0" i="0">
                <a:solidFill>
                  <a:srgbClr val="16A34A"/>
                </a:solidFill>
                <a:latin typeface="Segoe UI"/>
              </a:rPr>
              <a:t>Directly fulfills NAAC Criteria 2 &amp; 5, NBA OBE Criterion 2.6, and NEP 2020 micro-credential rules.</a:t>
            </a:r>
          </a:p>
        </p:txBody>
      </p:sp>
      <p:pic>
        <p:nvPicPr>
          <p:cNvPr id="156" name="Google Shape;15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71174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264197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1180147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05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" name="Google Shape;143;p16">
            <a:extLst>
              <a:ext uri="{FF2B5EF4-FFF2-40B4-BE49-F238E27FC236}">
                <a16:creationId xmlns:a16="http://schemas.microsoft.com/office/drawing/2014/main" id="{3CAF39FC-C49D-1484-968C-D8CC6B6281EE}"/>
              </a:ext>
            </a:extLst>
          </p:cNvPr>
          <p:cNvSpPr txBox="1"/>
          <p:nvPr/>
        </p:nvSpPr>
        <p:spPr>
          <a:xfrm>
            <a:off x="571500" y="571500"/>
            <a:ext cx="11601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IMPACT AND BENEFITS</a:t>
            </a:r>
            <a:endParaRPr dirty="0"/>
          </a:p>
        </p:txBody>
      </p:sp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FDB0C6B6-D604-F5FA-8C1F-20E675C8EE7E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3EAE13-7287-2B9A-1824-778F4241D5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C816A02-64BD-FBFB-2E8F-FE68591AE81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0FC4E61E-2819-88A1-4D2E-25F6C534E60D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62BE52A-6744-24D5-7827-BF7ABFAE66D8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64" name="Google Shape;16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4735" y="1661038"/>
            <a:ext cx="10491634" cy="480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571500" y="682747"/>
            <a:ext cx="929116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3600" b="1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</a:defRPr>
            </a:lvl1pPr>
          </a:lstStyle>
          <a:p>
            <a:r>
              <a:rPr lang="en-US" dirty="0">
                <a:sym typeface="Playfair Display"/>
              </a:rPr>
              <a:t>RESEARCH AND REFERENCES</a:t>
            </a:r>
            <a:endParaRPr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E1C9CA6-2431-0A69-98BB-5E30EED6A492}"/>
              </a:ext>
            </a:extLst>
          </p:cNvPr>
          <p:cNvGrpSpPr/>
          <p:nvPr/>
        </p:nvGrpSpPr>
        <p:grpSpPr>
          <a:xfrm>
            <a:off x="2306177" y="3813418"/>
            <a:ext cx="8058150" cy="375455"/>
            <a:chOff x="2168525" y="4214995"/>
            <a:chExt cx="8058150" cy="375455"/>
          </a:xfrm>
        </p:grpSpPr>
        <p:sp>
          <p:nvSpPr>
            <p:cNvPr id="168" name="Google Shape;168;p18"/>
            <p:cNvSpPr txBox="1"/>
            <p:nvPr/>
          </p:nvSpPr>
          <p:spPr>
            <a:xfrm>
              <a:off x="2168525" y="4214995"/>
              <a:ext cx="8058150" cy="3656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8625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300" b="1" i="0">
                  <a:solidFill>
                    <a:srgbClr val="B8762A"/>
                  </a:solidFill>
                  <a:latin typeface="Segoe UI"/>
                </a:rPr>
                <a:t>Foundational Research &amp; Standardized Frameworks</a:t>
              </a:r>
              <a:endParaRPr dirty="0"/>
            </a:p>
            <a:p>
              <a:r>
                <a:rPr sz="1000" b="1" i="0">
                  <a:solidFill>
                    <a:srgbClr val="1A1612"/>
                  </a:solidFill>
                  <a:latin typeface="Segoe UI"/>
                </a:rPr>
                <a:t>• 1. W3C Verifiable Credentials Data Model v1.0: </a:t>
              </a:r>
              <a:r>
                <a:rPr sz="1000" b="0" i="0">
                  <a:solidFill>
                    <a:srgbClr val="2C2922"/>
                  </a:solidFill>
                  <a:latin typeface="Segoe UI"/>
                </a:rPr>
                <a:t>Official W3C Recommendation for decentralized, tamper-evident digital credentials on the Web.</a:t>
              </a:r>
            </a:p>
            <a:p>
              <a:r>
                <a:rPr sz="1000" b="1" i="0">
                  <a:solidFill>
                    <a:srgbClr val="1A1612"/>
                  </a:solidFill>
                  <a:latin typeface="Segoe UI"/>
                </a:rPr>
                <a:t>• 2. National Education Policy (NEP 2020): </a:t>
              </a:r>
              <a:r>
                <a:rPr sz="1000" b="0" i="0">
                  <a:solidFill>
                    <a:srgbClr val="2C2922"/>
                  </a:solidFill>
                  <a:latin typeface="Segoe UI"/>
                </a:rPr>
                <a:t>Government of India guidelines on competency-based curriculum, multidisciplinary credits, and modular micro-credentials.</a:t>
              </a:r>
            </a:p>
            <a:p>
              <a:r>
                <a:rPr sz="1000" b="1" i="0">
                  <a:solidFill>
                    <a:srgbClr val="1A1612"/>
                  </a:solidFill>
                  <a:latin typeface="Segoe UI"/>
                </a:rPr>
                <a:t>• 3. NAAC &amp; NBA Accreditation Criteria: </a:t>
              </a:r>
              <a:r>
                <a:rPr sz="1000" b="0" i="0">
                  <a:solidFill>
                    <a:srgbClr val="2C2922"/>
                  </a:solidFill>
                  <a:latin typeface="Segoe UI"/>
                </a:rPr>
                <a:t>Framework for Outcome-Based Education (OBE) measuring Program Outcomes (POs) and student progression.</a:t>
              </a:r>
            </a:p>
            <a:p>
              <a:r>
                <a:rPr sz="1000" b="1" i="0">
                  <a:solidFill>
                    <a:srgbClr val="1A1612"/>
                  </a:solidFill>
                  <a:latin typeface="Segoe UI"/>
                </a:rPr>
                <a:t>• 4. ACM/IEEE Computing Curricula 2020 (CC2020): </a:t>
              </a:r>
              <a:r>
                <a:rPr sz="1000" b="0" i="0">
                  <a:solidFill>
                    <a:srgbClr val="2C2922"/>
                  </a:solidFill>
                  <a:latin typeface="Segoe UI"/>
                </a:rPr>
                <a:t>Global competency framework structuring knowledge, skills, and professional dispositions in software engineering.</a:t>
              </a:r>
            </a:p>
            <a:p>
              <a:r>
                <a:rPr sz="1000" b="1" i="0">
                  <a:solidFill>
                    <a:srgbClr val="1A1612"/>
                  </a:solidFill>
                  <a:latin typeface="Segoe UI"/>
                </a:rPr>
                <a:t>• 5. Empirical Software Engineering on Git Provenance: </a:t>
              </a:r>
              <a:r>
                <a:rPr sz="1000" b="0" i="0">
                  <a:solidFill>
                    <a:srgbClr val="2C2922"/>
                  </a:solidFill>
                  <a:latin typeface="Segoe UI"/>
                </a:rPr>
                <a:t>Research on static AST parsing, automated test coverage, and code commit digests for authentic skills validation.</a:t>
              </a:r>
            </a:p>
          </p:txBody>
        </p:sp>
        <p:pic>
          <p:nvPicPr>
            <p:cNvPr id="169" name="Google Shape;169;p18" descr="image.png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169920" y="4361850"/>
              <a:ext cx="285750" cy="228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0" name="Google Shape;170;p18"/>
          <p:cNvSpPr txBox="1"/>
          <p:nvPr/>
        </p:nvSpPr>
        <p:spPr>
          <a:xfrm>
            <a:off x="11696700" y="6467475"/>
            <a:ext cx="2095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06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84B2B-35C3-CD70-ED94-211E6AF95D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3919" y="141850"/>
            <a:ext cx="2259114" cy="1169718"/>
          </a:xfrm>
          <a:prstGeom prst="rect">
            <a:avLst/>
          </a:prstGeom>
        </p:spPr>
      </p:pic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D7515F0B-1E18-86AF-90B0-D093B0E72B20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>
          <a:extLst>
            <a:ext uri="{FF2B5EF4-FFF2-40B4-BE49-F238E27FC236}">
              <a16:creationId xmlns:a16="http://schemas.microsoft.com/office/drawing/2014/main" id="{49857CB4-7072-0A2C-E999-79BE1147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039F41B2-B5D9-3609-74DD-C426390DD1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>
            <a:extLst>
              <a:ext uri="{FF2B5EF4-FFF2-40B4-BE49-F238E27FC236}">
                <a16:creationId xmlns:a16="http://schemas.microsoft.com/office/drawing/2014/main" id="{90DDA3D6-E1F3-90FD-5A56-E6E98B41B12B}"/>
              </a:ext>
            </a:extLst>
          </p:cNvPr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15A034E-A8C8-1033-74A8-3B91B9845EF8}"/>
              </a:ext>
            </a:extLst>
          </p:cNvPr>
          <p:cNvGrpSpPr/>
          <p:nvPr/>
        </p:nvGrpSpPr>
        <p:grpSpPr>
          <a:xfrm>
            <a:off x="571500" y="1696998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>
              <a:extLst>
                <a:ext uri="{FF2B5EF4-FFF2-40B4-BE49-F238E27FC236}">
                  <a16:creationId xmlns:a16="http://schemas.microsoft.com/office/drawing/2014/main" id="{56D3A1F3-92BF-5341-02C6-81AE4C549E6D}"/>
                </a:ext>
              </a:extLst>
            </p:cNvPr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200" b="1" i="0">
                  <a:solidFill>
                    <a:srgbClr val="0F766E"/>
                  </a:solidFill>
                  <a:latin typeface="Segoe UI"/>
                </a:rPr>
                <a:t>Live Interactive Application Prototype</a:t>
              </a:r>
              <a:endParaRPr dirty="0"/>
            </a:p>
            <a:p>
              <a:r>
                <a:rPr sz="1000" b="0" i="0">
                  <a:solidFill>
                    <a:srgbClr val="2C2922"/>
                  </a:solidFill>
                  <a:latin typeface="Segoe UI"/>
                </a:rPr>
                <a:t>• Running Locally: http://localhost:3000
• Includes Public Verifier Gateway (/verify), Candidate Skill Passport, and Reviewer SLA Queue.</a:t>
              </a:r>
            </a:p>
          </p:txBody>
        </p:sp>
        <p:pic>
          <p:nvPicPr>
            <p:cNvPr id="105" name="Google Shape;105;p14" descr="image.png">
              <a:extLst>
                <a:ext uri="{FF2B5EF4-FFF2-40B4-BE49-F238E27FC236}">
                  <a16:creationId xmlns:a16="http://schemas.microsoft.com/office/drawing/2014/main" id="{E8075BB2-C619-8D8C-82ED-B724685C00A2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4B0C1A2-18CF-36B7-BF60-EEA2D5CC6B15}"/>
              </a:ext>
            </a:extLst>
          </p:cNvPr>
          <p:cNvGrpSpPr/>
          <p:nvPr/>
        </p:nvGrpSpPr>
        <p:grpSpPr>
          <a:xfrm>
            <a:off x="571500" y="2227320"/>
            <a:ext cx="9516398" cy="761747"/>
            <a:chOff x="571500" y="3657600"/>
            <a:chExt cx="9516398" cy="761747"/>
          </a:xfrm>
        </p:grpSpPr>
        <p:sp>
          <p:nvSpPr>
            <p:cNvPr id="101" name="Google Shape;101;p14">
              <a:extLst>
                <a:ext uri="{FF2B5EF4-FFF2-40B4-BE49-F238E27FC236}">
                  <a16:creationId xmlns:a16="http://schemas.microsoft.com/office/drawing/2014/main" id="{547489CF-7611-6A56-7E12-230A70D22BB4}"/>
                </a:ext>
              </a:extLst>
            </p:cNvPr>
            <p:cNvSpPr txBox="1"/>
            <p:nvPr/>
          </p:nvSpPr>
          <p:spPr>
            <a:xfrm>
              <a:off x="1000126" y="3657600"/>
              <a:ext cx="9087772" cy="7617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200" b="1" i="0">
                  <a:solidFill>
                    <a:srgbClr val="B8762A"/>
                  </a:solidFill>
                  <a:latin typeface="Segoe UI"/>
                </a:rPr>
                <a:t>GitHub Repository &amp; Open-Source Code</a:t>
              </a:r>
              <a:endParaRPr dirty="0"/>
            </a:p>
            <a:p>
              <a:r>
                <a:rPr sz="1000" b="0" i="0">
                  <a:solidFill>
                    <a:srgbClr val="2C2922"/>
                  </a:solidFill>
                  <a:latin typeface="Segoe UI"/>
                </a:rPr>
                <a:t>• GitHub Repo: https://github.com/miyaniakshar1234/IIC3.0-Final
• Full codebase in Next.js 14, TypeScript, PostgreSQL migrations, and automated challenge suites.</a:t>
              </a:r>
            </a:p>
          </p:txBody>
        </p:sp>
        <p:pic>
          <p:nvPicPr>
            <p:cNvPr id="106" name="Google Shape;106;p14" descr="image.png">
              <a:extLst>
                <a:ext uri="{FF2B5EF4-FFF2-40B4-BE49-F238E27FC236}">
                  <a16:creationId xmlns:a16="http://schemas.microsoft.com/office/drawing/2014/main" id="{0D644168-B311-3FE8-3B7D-A115F5E23F7C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13DAC4E-B636-B739-9CFD-5D9023510ABC}"/>
              </a:ext>
            </a:extLst>
          </p:cNvPr>
          <p:cNvGrpSpPr/>
          <p:nvPr/>
        </p:nvGrpSpPr>
        <p:grpSpPr>
          <a:xfrm>
            <a:off x="571500" y="3035408"/>
            <a:ext cx="10696268" cy="380873"/>
            <a:chOff x="571500" y="4210050"/>
            <a:chExt cx="10696268" cy="380873"/>
          </a:xfrm>
        </p:grpSpPr>
        <p:sp>
          <p:nvSpPr>
            <p:cNvPr id="102" name="Google Shape;102;p14">
              <a:extLst>
                <a:ext uri="{FF2B5EF4-FFF2-40B4-BE49-F238E27FC236}">
                  <a16:creationId xmlns:a16="http://schemas.microsoft.com/office/drawing/2014/main" id="{88EF4594-B134-F2E2-4ECC-638970D7354B}"/>
                </a:ext>
              </a:extLst>
            </p:cNvPr>
            <p:cNvSpPr txBox="1"/>
            <p:nvPr/>
          </p:nvSpPr>
          <p:spPr>
            <a:xfrm>
              <a:off x="1000125" y="4210050"/>
              <a:ext cx="10267643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200" b="1" i="0">
                  <a:solidFill>
                    <a:srgbClr val="16A34A"/>
                  </a:solidFill>
                  <a:latin typeface="Segoe UI"/>
                </a:rPr>
                <a:t>Key Delivered Functional Modules</a:t>
              </a:r>
              <a:endParaRPr dirty="0"/>
            </a:p>
            <a:p>
              <a:r>
                <a:rPr sz="1000" b="0" i="0">
                  <a:solidFill>
                    <a:srgbClr val="2C2922"/>
                  </a:solidFill>
                  <a:latin typeface="Segoe UI"/>
                </a:rPr>
                <a:t>• 1. Candidate Skill Twin with W3C JSON-LD Export &amp; SHA-256 Digest
• 2. 'Bridge Me' Shortest-Path Algorithmic Pathfinder Sandbox (61% → 96%)
• 3. Faculty Reviewer Queue with SLA urgency tags &amp; Dean Curriculum Gap Radar.</a:t>
              </a:r>
            </a:p>
          </p:txBody>
        </p:sp>
        <p:pic>
          <p:nvPicPr>
            <p:cNvPr id="107" name="Google Shape;107;p14" descr="image.png">
              <a:extLst>
                <a:ext uri="{FF2B5EF4-FFF2-40B4-BE49-F238E27FC236}">
                  <a16:creationId xmlns:a16="http://schemas.microsoft.com/office/drawing/2014/main" id="{581FAA9C-A1D3-A4DA-9E13-FF32187DBDD5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6D3E576-2E03-54AD-37FC-16815A0CD711}"/>
              </a:ext>
            </a:extLst>
          </p:cNvPr>
          <p:cNvGrpSpPr/>
          <p:nvPr/>
        </p:nvGrpSpPr>
        <p:grpSpPr>
          <a:xfrm>
            <a:off x="571500" y="3568194"/>
            <a:ext cx="10977715" cy="380873"/>
            <a:chOff x="571500" y="4762500"/>
            <a:chExt cx="10977715" cy="380873"/>
          </a:xfrm>
        </p:grpSpPr>
        <p:sp>
          <p:nvSpPr>
            <p:cNvPr id="103" name="Google Shape;103;p14">
              <a:extLst>
                <a:ext uri="{FF2B5EF4-FFF2-40B4-BE49-F238E27FC236}">
                  <a16:creationId xmlns:a16="http://schemas.microsoft.com/office/drawing/2014/main" id="{8A116430-27B4-2A89-96B0-B68DEEC09B04}"/>
                </a:ext>
              </a:extLst>
            </p:cNvPr>
            <p:cNvSpPr txBox="1"/>
            <p:nvPr/>
          </p:nvSpPr>
          <p:spPr>
            <a:xfrm>
              <a:off x="1000125" y="4762500"/>
              <a:ext cx="10549090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200" b="1" i="0">
                  <a:solidFill>
                    <a:srgbClr val="1A1612"/>
                  </a:solidFill>
                  <a:latin typeface="Segoe UI"/>
                </a:rPr>
                <a:t>Team Outliers · Contact &amp; Credits</a:t>
              </a:r>
              <a:endParaRPr dirty="0"/>
            </a:p>
            <a:p>
              <a:r>
                <a:rPr sz="1000" b="0" i="0">
                  <a:solidFill>
                    <a:srgbClr val="2C2922"/>
                  </a:solidFill>
                  <a:latin typeface="Segoe UI"/>
                </a:rPr>
                <a:t>• Akshar Miyani (Lead Architect) · Lubhanshi Mathur (UX &amp; Product)
• Lakshita Sharma (Accreditation &amp; Rubrics) · Mohammad Faizan (Backend &amp; QA)
• 'Judged by what you build · Verified by mathematics · Trusted by industry.'</a:t>
              </a:r>
            </a:p>
          </p:txBody>
        </p:sp>
        <p:pic>
          <p:nvPicPr>
            <p:cNvPr id="108" name="Google Shape;108;p14" descr="image.png">
              <a:extLst>
                <a:ext uri="{FF2B5EF4-FFF2-40B4-BE49-F238E27FC236}">
                  <a16:creationId xmlns:a16="http://schemas.microsoft.com/office/drawing/2014/main" id="{2E0DE1EC-EA9C-7F89-6C4F-14B6F4205C8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>
            <a:extLst>
              <a:ext uri="{FF2B5EF4-FFF2-40B4-BE49-F238E27FC236}">
                <a16:creationId xmlns:a16="http://schemas.microsoft.com/office/drawing/2014/main" id="{FA6E1960-10B6-BF2B-F7C1-FF293A2827EC}"/>
              </a:ext>
            </a:extLst>
          </p:cNvPr>
          <p:cNvSpPr txBox="1"/>
          <p:nvPr/>
        </p:nvSpPr>
        <p:spPr>
          <a:xfrm>
            <a:off x="571500" y="571500"/>
            <a:ext cx="11601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A1612"/>
                </a:solidFill>
                <a:latin typeface="Segoe UI"/>
              </a:rPr>
              <a:t>LIVE PROTOTYPE DEMONSTRATION &amp; REPOSITORY</a:t>
            </a:r>
            <a:endParaRPr dirty="0"/>
          </a:p>
          <a:p>
            <a:r>
              <a:rPr sz="1100" b="0" i="1">
                <a:solidFill>
                  <a:srgbClr val="B8762A"/>
                </a:solidFill>
                <a:latin typeface="Segoe UI"/>
              </a:rPr>
              <a:t>Fully functional end-to-end prototype deployed for IIC 3.0 MUJ Hackathon</a:t>
            </a:r>
          </a:p>
        </p:txBody>
      </p:sp>
      <p:sp>
        <p:nvSpPr>
          <p:cNvPr id="110" name="Google Shape;110;p14">
            <a:extLst>
              <a:ext uri="{FF2B5EF4-FFF2-40B4-BE49-F238E27FC236}">
                <a16:creationId xmlns:a16="http://schemas.microsoft.com/office/drawing/2014/main" id="{DD23B182-D1B6-847C-30B5-ABB40C54FC23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>
            <a:extLst>
              <a:ext uri="{FF2B5EF4-FFF2-40B4-BE49-F238E27FC236}">
                <a16:creationId xmlns:a16="http://schemas.microsoft.com/office/drawing/2014/main" id="{32CC38D5-8E31-0DB0-B87A-C8B6BF84879A}"/>
              </a:ext>
            </a:extLst>
          </p:cNvPr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07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9E711D-45A5-254E-A04D-E7629064DD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919" y="141850"/>
            <a:ext cx="2259114" cy="116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45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187</Words>
  <Application>Microsoft Macintosh PowerPoint</Application>
  <PresentationFormat>Widescreen</PresentationFormat>
  <Paragraphs>38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Poppins</vt:lpstr>
      <vt:lpstr>Poppins Light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Keshav Anand [CCE - 2024]</cp:lastModifiedBy>
  <cp:revision>8</cp:revision>
  <dcterms:modified xsi:type="dcterms:W3CDTF">2026-06-30T18:47:20Z</dcterms:modified>
</cp:coreProperties>
</file>